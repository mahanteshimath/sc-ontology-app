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Manrope" panose="020B0604020202020204" charset="0"/>
      <p:regular r:id="rId8"/>
      <p:bold r:id="rId9"/>
    </p:embeddedFont>
    <p:embeddedFont>
      <p:font typeface="Manrope SemiBold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49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ntesh Hiremath" userId="cdd2034b-65be-4116-a61f-8d86987d382b" providerId="ADAL" clId="{289E617F-6D7C-4D9E-920F-F71B774FEA5E}"/>
    <pc:docChg chg="undo custSel modSld">
      <pc:chgData name="Mahantesh Hiremath" userId="cdd2034b-65be-4116-a61f-8d86987d382b" providerId="ADAL" clId="{289E617F-6D7C-4D9E-920F-F71B774FEA5E}" dt="2026-09-28T07:53:51.576" v="12" actId="27636"/>
      <pc:docMkLst>
        <pc:docMk/>
      </pc:docMkLst>
      <pc:sldChg chg="modSp mod">
        <pc:chgData name="Mahantesh Hiremath" userId="cdd2034b-65be-4116-a61f-8d86987d382b" providerId="ADAL" clId="{289E617F-6D7C-4D9E-920F-F71B774FEA5E}" dt="2026-09-28T07:53:51.486" v="11" actId="27636"/>
        <pc:sldMkLst>
          <pc:docMk/>
          <pc:sldMk cId="0" sldId="259"/>
        </pc:sldMkLst>
        <pc:spChg chg="mod">
          <ac:chgData name="Mahantesh Hiremath" userId="cdd2034b-65be-4116-a61f-8d86987d382b" providerId="ADAL" clId="{289E617F-6D7C-4D9E-920F-F71B774FEA5E}" dt="2026-09-28T07:53:30.314" v="1" actId="1076"/>
          <ac:spMkLst>
            <pc:docMk/>
            <pc:sldMk cId="0" sldId="259"/>
            <ac:spMk id="75" creationId="{00000000-0000-0000-0000-000000000000}"/>
          </ac:spMkLst>
        </pc:spChg>
        <pc:spChg chg="mod">
          <ac:chgData name="Mahantesh Hiremath" userId="cdd2034b-65be-4116-a61f-8d86987d382b" providerId="ADAL" clId="{289E617F-6D7C-4D9E-920F-F71B774FEA5E}" dt="2026-09-28T07:53:51.486" v="11" actId="27636"/>
          <ac:spMkLst>
            <pc:docMk/>
            <pc:sldMk cId="0" sldId="259"/>
            <ac:spMk id="87" creationId="{00000000-0000-0000-0000-000000000000}"/>
          </ac:spMkLst>
        </pc:spChg>
        <pc:picChg chg="mod">
          <ac:chgData name="Mahantesh Hiremath" userId="cdd2034b-65be-4116-a61f-8d86987d382b" providerId="ADAL" clId="{289E617F-6D7C-4D9E-920F-F71B774FEA5E}" dt="2026-09-28T07:53:25.193" v="0" actId="14100"/>
          <ac:picMkLst>
            <pc:docMk/>
            <pc:sldMk cId="0" sldId="259"/>
            <ac:picMk id="74" creationId="{00000000-0000-0000-0000-000000000000}"/>
          </ac:picMkLst>
        </pc:picChg>
      </pc:sldChg>
      <pc:sldChg chg="modSp mod">
        <pc:chgData name="Mahantesh Hiremath" userId="cdd2034b-65be-4116-a61f-8d86987d382b" providerId="ADAL" clId="{289E617F-6D7C-4D9E-920F-F71B774FEA5E}" dt="2026-09-28T07:53:51.576" v="12" actId="27636"/>
        <pc:sldMkLst>
          <pc:docMk/>
          <pc:sldMk cId="0" sldId="260"/>
        </pc:sldMkLst>
        <pc:spChg chg="mod">
          <ac:chgData name="Mahantesh Hiremath" userId="cdd2034b-65be-4116-a61f-8d86987d382b" providerId="ADAL" clId="{289E617F-6D7C-4D9E-920F-F71B774FEA5E}" dt="2026-09-28T07:53:51.576" v="12" actId="27636"/>
          <ac:spMkLst>
            <pc:docMk/>
            <pc:sldMk cId="0" sldId="260"/>
            <ac:spMk id="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343" b="0">
                <a:solidFill>
                  <a:srgbClr val="202729"/>
                </a:solidFill>
                <a:latin typeface="Manrope"/>
              </a:rPr>
              <a:t> 3M-Ontologist</a:t>
            </a:r>
            <a:endParaRPr sz="1343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343" b="0">
                <a:solidFill>
                  <a:srgbClr val="202729"/>
                </a:solidFill>
                <a:latin typeface="Manrope"/>
              </a:rPr>
              <a:t> Governed conversational analytics for supply chain — one metric definition, provably identical everywhere it's asked.</a:t>
            </a:r>
            <a:endParaRPr sz="1343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343" b="0">
                <a:solidFill>
                  <a:srgbClr val="202729"/>
                </a:solidFill>
                <a:latin typeface="Manrope"/>
              </a:rPr>
              <a:t> Mahantesh Hiremath</a:t>
            </a:r>
            <a:endParaRPr sz="1343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34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sz="1343" b="0">
                <a:solidFill>
                  <a:srgbClr val="202729"/>
                </a:solidFill>
                <a:latin typeface="Manrope"/>
              </a:rPr>
              <a:t> 3</a:t>
            </a:r>
            <a:endParaRPr sz="1343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29100" y="400000"/>
            <a:ext cx="84858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02729"/>
                </a:solidFill>
                <a:latin typeface="Manrope"/>
              </a:rPr>
              <a:t>Problem Brief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00" y="950000"/>
            <a:ext cx="8485800" cy="3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02729"/>
                </a:solidFill>
                <a:latin typeface="Manrope"/>
              </a:rPr>
              <a:t>What real business problem does this solve?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Supply-chain metrics disagree across ERP, logistics, supplier and IoT systems — the same “on-time delivery” returns different numbers to different teams, and the gap is usually discovered in a meeting instead of a test.</a:t>
            </a:r>
          </a:p>
          <a:p>
            <a:r>
              <a:rPr sz="1500" b="1">
                <a:solidFill>
                  <a:srgbClr val="202729"/>
                </a:solidFill>
                <a:latin typeface="Manrope"/>
              </a:rPr>
              <a:t>Who is the target user / persona?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Supply chain planners, procurement analysts and logistics leads who make S&amp;OP and supplier-scorecard decisions off a shared metric.</a:t>
            </a:r>
          </a:p>
          <a:p>
            <a:r>
              <a:rPr sz="1500" b="1">
                <a:solidFill>
                  <a:srgbClr val="202729"/>
                </a:solidFill>
                <a:latin typeface="Manrope"/>
              </a:rPr>
              <a:t>What is the current pain point, and how does this improve it?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A 0.0068 metric spread silently clears 12 of 300 suppliers that shouldn't pass — 22% of the “compliant” list — and never over-escalates, so nobody complains and the error survives indefinitely. We define every metric once, bind it to every consumer, and drift-test each binding against an independent canonical calculation on a schedule.</a:t>
            </a:r>
          </a:p>
          <a:p>
            <a:r>
              <a:rPr sz="1500" b="1">
                <a:solidFill>
                  <a:srgbClr val="202729"/>
                </a:solidFill>
                <a:latin typeface="Manrope"/>
              </a:rPr>
              <a:t>Industry / domain context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Manufacturing supply chain — ERP purchase and sales orders, logistics/carrier systems, supplier systems, and IoT shipment telemetry, at multi-million-row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-76585" y="412500"/>
            <a:ext cx="848580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 dirty="0">
                <a:solidFill>
                  <a:srgbClr val="202729"/>
                </a:solidFill>
                <a:latin typeface="Manrope"/>
              </a:rPr>
              <a:t>Architecture — one governed execution path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9100" y="900000"/>
            <a:ext cx="1650000" cy="8500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RAW
ERP · logistics · supplier · IoT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1979100" y="1225000"/>
            <a:ext cx="230000" cy="2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209100" y="900000"/>
            <a:ext cx="1650000" cy="8500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CANONICAL
atomic-grain facts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3859100" y="1225000"/>
            <a:ext cx="230000" cy="2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089100" y="900000"/>
            <a:ext cx="1650000" cy="8500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SEMANTIC
single query surface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5739100" y="1225000"/>
            <a:ext cx="230000" cy="2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969100" y="900000"/>
            <a:ext cx="1650000" cy="8500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GOVERNANCE
registry + drift test + eval</a:t>
            </a:r>
          </a:p>
        </p:txBody>
      </p:sp>
      <p:sp>
        <p:nvSpPr>
          <p:cNvPr id="83" name="Right Arrow 82"/>
          <p:cNvSpPr/>
          <p:nvPr/>
        </p:nvSpPr>
        <p:spPr>
          <a:xfrm rot="5400000">
            <a:off x="4814100" y="1750000"/>
            <a:ext cx="200000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ight Arrow 83"/>
          <p:cNvSpPr/>
          <p:nvPr/>
        </p:nvSpPr>
        <p:spPr>
          <a:xfrm rot="5400000">
            <a:off x="6694100" y="1750000"/>
            <a:ext cx="200000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789100" y="2250000"/>
            <a:ext cx="1900000" cy="650000"/>
          </a:xfrm>
          <a:prstGeom prst="round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Next.js App
(dashboards + chat)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100" y="2250000"/>
            <a:ext cx="1900000" cy="650000"/>
          </a:xfrm>
          <a:prstGeom prst="round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Cortex Agent
(verified-query bound)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9100" y="3800000"/>
            <a:ext cx="8485800" cy="12500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500" b="0" dirty="0">
                <a:solidFill>
                  <a:srgbClr val="202729"/>
                </a:solidFill>
                <a:latin typeface="Manrope"/>
              </a:rPr>
              <a:t>Data sources: ERP (POs, sales orders), logistics/carrier systems, supplier systems, IoT shipment telemetry — structured and semi-structured.</a:t>
            </a:r>
          </a:p>
          <a:p>
            <a:r>
              <a:rPr sz="1500" b="0" dirty="0">
                <a:solidFill>
                  <a:srgbClr val="202729"/>
                </a:solidFill>
                <a:latin typeface="Manrope"/>
              </a:rPr>
              <a:t>Modular components: metric registry, drift-test engine, persona-scoped Snowflake roles + row access policies, Cortex Agent, Next.js app — each independently swappable.</a:t>
            </a:r>
          </a:p>
          <a:p>
            <a:r>
              <a:rPr sz="1500" b="0" dirty="0">
                <a:solidFill>
                  <a:srgbClr val="202729"/>
                </a:solidFill>
                <a:latin typeface="Manrope"/>
              </a:rPr>
              <a:t>The load-bearing arrow: the drift test compares every semantic view against an independent canonical SQL calculation on the atomic fact — not just cross-view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29100" y="300000"/>
            <a:ext cx="84858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i="1" u="none" strike="noStrike" cap="none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Impact Statement</a:t>
            </a:r>
            <a:endParaRPr sz="600" b="0" i="1" u="none" strike="noStrike" cap="none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29100" y="950000"/>
            <a:ext cx="8485800" cy="3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02729"/>
                </a:solidFill>
                <a:latin typeface="Manrope"/>
              </a:rPr>
              <a:t>Measurable outcomes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Zero drift spread across 14 metrics / 28 bindings on the last run. The divergence is priced in decisions, not decimals: 12 suppliers (22% of the “compliant” list) cleared without earning it, 0 false escalations. 60 conversational questions scored end-to-end — the evaluation itself found and fixed a real broken access control (Q53). 162/170 automated tests passing.</a:t>
            </a:r>
          </a:p>
          <a:p>
            <a:r>
              <a:rPr sz="1500" b="1">
                <a:solidFill>
                  <a:srgbClr val="202729"/>
                </a:solidFill>
                <a:latin typeface="Manrope"/>
              </a:rPr>
              <a:t>Scalability potential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The pattern — one definition, one binding per consumer, one independent drift test — is domain-agnostic. Adding a metric is a registration, not a new pipeline; the same governance layer covers finance, quality, or any team that argues over whose number is right.</a:t>
            </a:r>
          </a:p>
          <a:p>
            <a:r>
              <a:rPr sz="1500" b="1">
                <a:solidFill>
                  <a:srgbClr val="202729"/>
                </a:solidFill>
                <a:latin typeface="Manrope"/>
              </a:rPr>
              <a:t>How this extends beyond the demo</a:t>
            </a:r>
          </a:p>
          <a:p>
            <a:r>
              <a:rPr sz="1500" b="0">
                <a:solidFill>
                  <a:srgbClr val="202729"/>
                </a:solidFill>
                <a:latin typeface="Manrope"/>
              </a:rPr>
              <a:t>The drift test already runs daily at 06:00 UTC against production semantic views. Personas map onto real Snowflake roles and row access policies, not app-level mocks. The conversational layer refuses out-of-ontology questions instead of guessing — which is what makes it safe to hand to a real user, not just a judge.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On-screen Show 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Mahantesh Hiremath</cp:lastModifiedBy>
  <cp:revision>1</cp:revision>
  <dcterms:modified xsi:type="dcterms:W3CDTF">2026-09-28T07:53:56Z</dcterms:modified>
</cp:coreProperties>
</file>